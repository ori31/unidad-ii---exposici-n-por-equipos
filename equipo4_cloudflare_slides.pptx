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9"/>
    <p:sldId id="258" r:id="rId8"/>
    <p:sldId id="260" r:id="rId10"/>
    <p:sldId id="269" r:id="rId19"/>
    <p:sldId id="267" r:id="rId17"/>
    <p:sldId id="268" r:id="rId18"/>
    <p:sldId id="272" r:id="rId24"/>
    <p:sldId id="262" r:id="rId12"/>
    <p:sldId id="263" r:id="rId13"/>
    <p:sldId id="265" r:id="rId15"/>
    <p:sldId id="273" r:id="rId25"/>
    <p:sldId id="274" r:id="rId26"/>
    <p:sldId id="271" r:id="rId21"/>
    <p:sldId id="275" r:id="rId27"/>
  </p:sldIdLst>
  <p:sldSz cx="18288000" cy="10287000"/>
  <p:notesSz cx="6858000" cy="9144000"/>
  <p:embeddedFontLst>
    <p:embeddedFont>
      <p:font typeface="Poppins Light" charset="1" panose="000004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9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Cloudflare: un servicio que se pone delante de la API para darle HTTPS, caché y protección. Equipo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Orden de la exposición. Cada apartado es una idea; el detalle está en el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integrante expone dos apartados (los roles se pueden cambiar).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la API del Sistema General de Ingresos corre con uvicorn. Si la sacamos a internet sin nada enfrente, el token viaja sin cifrar, la IP del servidor queda a la vista y no hay nada que frene peticiones abusivas.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tres cosas que pide el tema: HTTPS, caché y protección del servidor. Cloudflare es un proxy inverso: las peticiones llegan primero a su red y de ahí a nuestro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Servicio en la nube: la cuenta de Cloudflare con el dominio. Servidor: cloudflared, un programa que vive junto a la API. Archivo de configuración: el docker-compose con el token del túnel. El cliente no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Paso 1: el dominio se administra en Cloudflare. Paso 2: en el panel se crea el túnel y se copia su token; con ese token corre cloudflared en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Paso 3: se publica la aplicación, es decir, qué nombre público va a qué servicio interno. Paso 4: reglas de seguridad y de caché.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Comparación con el curso. Se parece a Docker en que es otra capa de infraestructura; se diferencia del token en que no autentica a nadie dentro de la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pequeño. El servicio tunnel se conecta hacia afuera con su token. En el panel se indica que ingresos.example.com va a http://api:8000, el nombre del servicio dentro de la red de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petición real del curso: query accounts con Authorization: Bearer. Cloudflare atiende el HTTPS y las reglas; cloudflared la entrega a FastAPI; la validación del token sigue siendo nuestra.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Costo en dinero: cero para lo que usamos. Costo real: depender de un tercero, tener dominio, y cuidar que nada con token se guarde en caché.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Cuándo no: si la API solo se usa local, si los datos no pueden pasar por un tercero, o si es tráfico entre servicios internos.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de máximo 3 minutos: levantar la API, correr el túnel rápido, abrir la URL trycloudflare.com en el celular y hacer login en /graphql por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Documentación oficial de Cloudflare. En el reporte van con título y URL completos.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Turno de la pregunta del otro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33.pn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1.png"/><Relationship Id="rId8" Type="http://schemas.openxmlformats.org/officeDocument/2006/relationships/image" Target="../media/image37.pn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png"/><Relationship Id="rId8" Type="http://schemas.openxmlformats.org/officeDocument/2006/relationships/image" Target="../media/image37.png"/><Relationship Id="rId9" Type="http://schemas.openxmlformats.org/officeDocument/2006/relationships/image" Target="../media/image22.png"/><Relationship Id="rId10" Type="http://schemas.openxmlformats.org/officeDocument/2006/relationships/image" Target="../media/image41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71750" y="1905000"/>
            <a:ext cx="274374" cy="274374"/>
          </a:xfrm>
          <a:custGeom>
            <a:avLst/>
            <a:gdLst/>
            <a:ahLst/>
            <a:cxnLst/>
            <a:rect r="r" b="b" t="t" l="l"/>
            <a:pathLst>
              <a:path h="274374" w="274374">
                <a:moveTo>
                  <a:pt x="0" y="0"/>
                </a:moveTo>
                <a:lnTo>
                  <a:pt x="274374" y="0"/>
                </a:lnTo>
                <a:lnTo>
                  <a:pt x="274374" y="274374"/>
                </a:lnTo>
                <a:lnTo>
                  <a:pt x="0" y="27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3496256"/>
            <a:ext cx="13144500" cy="341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1000" spc="-25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CLOUDFLARE</a:t>
            </a:r>
          </a:p>
          <a:p>
            <a:pPr>
              <a:lnSpc>
                <a:spcPts val="5000"/>
              </a:lnSpc>
            </a:pPr>
            <a:r>
              <a:rPr sz="36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proxy delante de nuestra 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6624" y="1914525"/>
            <a:ext cx="4000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71750" y="8114719"/>
            <a:ext cx="5000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 DE OCTUBRE DE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6250" y="8114719"/>
            <a:ext cx="6000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UNIDAD II · EXPOSICIÓN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345378" y="1905000"/>
            <a:ext cx="370872" cy="384751"/>
            <a:chOff x="0" y="0"/>
            <a:chExt cx="494495" cy="513001"/>
          </a:xfrm>
        </p:grpSpPr>
        <p:sp>
          <p:nvSpPr>
            <p:cNvPr name="AutoShape 9" id="9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id="12" name="TextBox 11"/>
          <p:cNvSpPr txBox="1"/>
          <p:nvPr/>
        </p:nvSpPr>
        <p:spPr>
          <a:xfrm>
            <a:off x="2571750" y="7450000"/>
            <a:ext cx="1100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Fundamentos de Arquitectura de Software y Desarrollo Backend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702602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CONTENIDO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4057069"/>
            <a:ext cx="700000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1844" y="4111511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057069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0844" y="4111511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 lo que ya vimos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5230802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1844" y="5285243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Qué resuelve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230802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0844" y="5285243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Ejemplo con nuestra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0" y="6404535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1844" y="6458976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piezas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0750" y="6404535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60844" y="6458976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Ganancias y límites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1750" y="7578268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1844" y="7632709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Cómo se usa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0750" y="7578268"/>
            <a:ext cx="700000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0844" y="7632709"/>
            <a:ext cx="500000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Cuándo no · Fuentes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9810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810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58246" y="-1743787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4123055"/>
            <a:ext cx="2762250" cy="2952750"/>
          </a:xfrm>
          <a:custGeom>
            <a:avLst/>
            <a:gdLst/>
            <a:ahLst/>
            <a:cxnLst/>
            <a:rect r="r" b="b" t="t" l="l"/>
            <a:pathLst>
              <a:path h="2952750" w="2762250">
                <a:moveTo>
                  <a:pt x="0" y="0"/>
                </a:moveTo>
                <a:lnTo>
                  <a:pt x="2762250" y="0"/>
                </a:lnTo>
                <a:lnTo>
                  <a:pt x="2762250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032500" y="4123055"/>
            <a:ext cx="2762250" cy="2952750"/>
          </a:xfrm>
          <a:custGeom>
            <a:avLst/>
            <a:gdLst/>
            <a:ahLst/>
            <a:cxnLst/>
            <a:rect r="r" b="b" t="t" l="l"/>
            <a:pathLst>
              <a:path h="2952750" w="2762250">
                <a:moveTo>
                  <a:pt x="0" y="0"/>
                </a:moveTo>
                <a:lnTo>
                  <a:pt x="2762250" y="0"/>
                </a:lnTo>
                <a:lnTo>
                  <a:pt x="2762250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493250" y="4123055"/>
            <a:ext cx="2762250" cy="2952750"/>
          </a:xfrm>
          <a:custGeom>
            <a:avLst/>
            <a:gdLst/>
            <a:ahLst/>
            <a:cxnLst/>
            <a:rect r="r" b="b" t="t" l="l"/>
            <a:pathLst>
              <a:path h="2952750" w="2762250">
                <a:moveTo>
                  <a:pt x="0" y="0"/>
                </a:moveTo>
                <a:lnTo>
                  <a:pt x="2762250" y="0"/>
                </a:lnTo>
                <a:lnTo>
                  <a:pt x="2762250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954000" y="4123055"/>
            <a:ext cx="2762250" cy="2952750"/>
          </a:xfrm>
          <a:custGeom>
            <a:avLst/>
            <a:gdLst/>
            <a:ahLst/>
            <a:cxnLst/>
            <a:rect r="r" b="b" t="t" l="l"/>
            <a:pathLst>
              <a:path h="2952750" w="2762250">
                <a:moveTo>
                  <a:pt x="0" y="0"/>
                </a:moveTo>
                <a:lnTo>
                  <a:pt x="2762250" y="0"/>
                </a:lnTo>
                <a:lnTo>
                  <a:pt x="2762250" y="2952750"/>
                </a:lnTo>
                <a:lnTo>
                  <a:pt x="0" y="2952750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TextBox 8" id="8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EQUIPO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9379" y="7771130"/>
            <a:ext cx="24000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Josue Enmanuel</a:t>
            </a:r>
          </a:p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Poot Mateo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29747" y="7771130"/>
            <a:ext cx="24000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Juan Jose</a:t>
            </a:r>
          </a:p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Zapata Buenfil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0497" y="7771130"/>
            <a:ext cx="24000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Sergio Orion</a:t>
            </a:r>
          </a:p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Huerta Martinez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51247" y="7771130"/>
            <a:ext cx="24000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Diego</a:t>
            </a:r>
          </a:p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Ramirez Magaña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89379" y="8560000"/>
            <a:ext cx="240000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Problema y qué resuelve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29747" y="8560000"/>
            <a:ext cx="240000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Piezas y pasos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0497" y="8560000"/>
            <a:ext cx="240000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Comparación y ejemplo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51247" y="8560000"/>
            <a:ext cx="240000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Ganancias, límites y demo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2132" y="7707312"/>
            <a:ext cx="59724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2500" y="7707312"/>
            <a:ext cx="59724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3250" y="7707312"/>
            <a:ext cx="59724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54000" y="7707312"/>
            <a:ext cx="59724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1750" y="4123055"/>
            <a:ext cx="2762250" cy="2952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2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JP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2500" y="4123055"/>
            <a:ext cx="2762250" cy="2952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2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JZ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3250" y="4123055"/>
            <a:ext cx="2762250" cy="2952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2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0" y="4123055"/>
            <a:ext cx="2762250" cy="2952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72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DR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6" id="6"/>
          <p:cNvSpPr/>
          <p:nvPr/>
        </p:nvSpPr>
        <p:spPr>
          <a:xfrm flipH="true" flipV="false" rot="0">
            <a:off x="7881015" y="-1112315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810750" y="1952625"/>
            <a:ext cx="590550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3973480"/>
            <a:ext cx="5905500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publicamos la API tal cual, uvicorn queda abierto en el puerto 8000.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900000"/>
            <a:ext cx="5905500" cy="221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 HTTPS, el token JWT viaja en texto plano.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 la IP, cualquiera puede saturar el servidor.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petición repetida llega hasta FastAPI y MySQL.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0000" y="1500000"/>
            <a:ext cx="5600000" cy="1150000"/>
          </a:xfrm>
          <a:prstGeom prst="roundRect">
            <a:avLst>
              <a:gd name="adj" fmla="val 6000"/>
            </a:avLst>
          </a:prstGeom>
          <a:solidFill>
            <a:srgbClr val="0E1A2E"/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lapto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000" y="1755000"/>
            <a:ext cx="640000" cy="6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50000" y="1690000"/>
            <a:ext cx="4150000" cy="4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000" y="2140000"/>
            <a:ext cx="415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GraphiQL o la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0000" y="4560000"/>
            <a:ext cx="5600000" cy="1150000"/>
          </a:xfrm>
          <a:prstGeom prst="roundRect">
            <a:avLst>
              <a:gd name="adj" fmla="val 6000"/>
            </a:avLst>
          </a:prstGeom>
          <a:solidFill>
            <a:srgbClr val="0E1A2E"/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000" y="4815000"/>
            <a:ext cx="640000" cy="64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50000" y="4750000"/>
            <a:ext cx="4150000" cy="4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0000" y="5200000"/>
            <a:ext cx="415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 filtro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0000" y="7620000"/>
            <a:ext cx="5600000" cy="1150000"/>
          </a:xfrm>
          <a:prstGeom prst="roundRect">
            <a:avLst>
              <a:gd name="adj" fmla="val 6000"/>
            </a:avLst>
          </a:prstGeom>
          <a:solidFill>
            <a:srgbClr val="0E1A2E"/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serv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000" y="7875000"/>
            <a:ext cx="640000" cy="64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50000" y="7810000"/>
            <a:ext cx="4150000" cy="4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0000" y="8260000"/>
            <a:ext cx="415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FastAPI :8000 + MySQL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00000" y="2770000"/>
            <a:ext cx="0" cy="1670000"/>
          </a:xfrm>
          <a:prstGeom prst="line">
            <a:avLst/>
          </a:prstGeom>
          <a:ln w="25400">
            <a:solidFill>
              <a:srgbClr val="D2B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50000" y="327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 · token en claro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00000" y="5830000"/>
            <a:ext cx="0" cy="1670000"/>
          </a:xfrm>
          <a:prstGeom prst="line">
            <a:avLst/>
          </a:prstGeom>
          <a:ln w="25400">
            <a:solidFill>
              <a:srgbClr val="D2B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50000" y="633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IP pública expuesta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QUÉ RESUELVE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 automático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613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Caché en el borde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861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Protección del servidor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800000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Certificado gratis que se renueva solo. El token ya no viaja en claro.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6135" y="6800000"/>
            <a:ext cx="3937635" cy="166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Guarda respuestas GET cerca del usuario para que no lleguen a la API.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615" y="6800000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Oculta la IP real, frena ataques DDoS y filtra con reglas del WAF.</a:t>
            </a:r>
          </a:p>
        </p:txBody>
      </p:sp>
      <p:pic>
        <p:nvPicPr>
          <p:cNvPr id="14" name="Picture 13" descr="lock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1750" y="4517002"/>
            <a:ext cx="700000" cy="700000"/>
          </a:xfrm>
          <a:prstGeom prst="rect">
            <a:avLst/>
          </a:prstGeom>
        </p:spPr>
      </p:pic>
      <p:pic>
        <p:nvPicPr>
          <p:cNvPr id="15" name="Picture 14" descr="zap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6135" y="4517002"/>
            <a:ext cx="700000" cy="700000"/>
          </a:xfrm>
          <a:prstGeom prst="rect">
            <a:avLst/>
          </a:prstGeom>
        </p:spPr>
      </p:pic>
      <p:pic>
        <p:nvPicPr>
          <p:cNvPr id="16" name="Picture 15" descr="shield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78615" y="4517002"/>
            <a:ext cx="700000" cy="7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44026" y="-2006419"/>
            <a:ext cx="22985203" cy="9745726"/>
          </a:xfrm>
          <a:custGeom>
            <a:avLst/>
            <a:gdLst/>
            <a:ahLst/>
            <a:cxnLst/>
            <a:rect r="r" b="b" t="t" l="l"/>
            <a:pathLst>
              <a:path h="9745726" w="22985203">
                <a:moveTo>
                  <a:pt x="22985202" y="0"/>
                </a:moveTo>
                <a:lnTo>
                  <a:pt x="0" y="0"/>
                </a:lnTo>
                <a:lnTo>
                  <a:pt x="0" y="9745726"/>
                </a:lnTo>
                <a:lnTo>
                  <a:pt x="22985202" y="9745726"/>
                </a:lnTo>
                <a:lnTo>
                  <a:pt x="22985202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860051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918017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225212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1912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PIEZAS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71750" y="4031190"/>
            <a:ext cx="2524125" cy="1504950"/>
            <a:chOff x="0" y="0"/>
            <a:chExt cx="664790" cy="396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81937" y="4031190"/>
            <a:ext cx="2524125" cy="1504950"/>
            <a:chOff x="0" y="0"/>
            <a:chExt cx="664790" cy="396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87362" y="4031190"/>
            <a:ext cx="2524125" cy="1504950"/>
            <a:chOff x="0" y="0"/>
            <a:chExt cx="664790" cy="3963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71750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1938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CONECTOR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87362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1750" y="6850000"/>
            <a:ext cx="3124125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Panel de Cloudflare: DNS, certificado, caché y reglas.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81938" y="6850000"/>
            <a:ext cx="3124125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cloudflared corre junto a la API y abre un túnel de salida.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87363" y="6850000"/>
            <a:ext cx="3124125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docker-compose.yml con el token del túnel y sin puertos abiertos.</a:t>
            </a:r>
          </a:p>
        </p:txBody>
      </p:sp>
      <p:pic>
        <p:nvPicPr>
          <p:cNvPr id="25" name="Picture 24" descr="cloud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12" y="4373665"/>
            <a:ext cx="820000" cy="820000"/>
          </a:xfrm>
          <a:prstGeom prst="rect">
            <a:avLst/>
          </a:prstGeom>
        </p:spPr>
      </p:pic>
      <p:pic>
        <p:nvPicPr>
          <p:cNvPr id="26" name="Picture 25" descr="server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999" y="4373665"/>
            <a:ext cx="820000" cy="820000"/>
          </a:xfrm>
          <a:prstGeom prst="rect">
            <a:avLst/>
          </a:prstGeom>
        </p:spPr>
      </p:pic>
      <p:pic>
        <p:nvPicPr>
          <p:cNvPr id="27" name="Picture 26" descr="file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9424" y="4373665"/>
            <a:ext cx="820000" cy="82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71750" y="9150000"/>
            <a:ext cx="13144500" cy="4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Cliente: </a:t>
            </a:r>
            <a:r>
              <a:rPr sz="20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GraphiQL o la app no cambian; solo usan https://ingresos.example.com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627888"/>
            <a:ext cx="18288000" cy="7754112"/>
          </a:xfrm>
          <a:custGeom>
            <a:avLst/>
            <a:gdLst/>
            <a:ahLst/>
            <a:cxnLst/>
            <a:rect r="r" b="b" t="t" l="l"/>
            <a:pathLst>
              <a:path h="7754112" w="18288000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836216" y="3112049"/>
            <a:ext cx="0" cy="1789062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2836216" y="6773068"/>
            <a:ext cx="0" cy="3513932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810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CÓMO SE USA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3612766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D2B99A"/>
                </a:solidFill>
                <a:latin typeface="Poppins"/>
                <a:ea typeface="Poppins"/>
                <a:cs typeface="Poppins"/>
                <a:sym typeface="Poppins"/>
              </a:rPr>
              <a:t>Pasos 1 y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4294" y="1847850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 · DOMINIO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94294" y="5620872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 · TÚNEL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0" y="4319521"/>
            <a:ext cx="5905500" cy="194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Primero Cloudflare toma el DNS del dominio. Después el servidor se conecta a Cloudflare desde adentro: no abrimos ningún puerto.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94294" y="2465124"/>
            <a:ext cx="43000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Dar de alta el dominio en Cloudflare y cambiar sus nameservers.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94294" y="6231506"/>
            <a:ext cx="4300000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Networking › Tunnels › Create Tunnel. Guardar el token.</a:t>
            </a:r>
          </a:p>
        </p:txBody>
      </p:sp>
      <p:pic>
        <p:nvPicPr>
          <p:cNvPr id="15" name="Picture 14" descr="glob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0" y="1905000"/>
            <a:ext cx="540000" cy="540000"/>
          </a:xfrm>
          <a:prstGeom prst="rect">
            <a:avLst/>
          </a:prstGeom>
        </p:spPr>
      </p:pic>
      <p:pic>
        <p:nvPicPr>
          <p:cNvPr id="16" name="Picture 15" descr="clou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5456" y="5567861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627888"/>
            <a:ext cx="18288000" cy="7754112"/>
          </a:xfrm>
          <a:custGeom>
            <a:avLst/>
            <a:gdLst/>
            <a:ahLst/>
            <a:cxnLst/>
            <a:rect r="r" b="b" t="t" l="l"/>
            <a:pathLst>
              <a:path h="7754112" w="18288000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810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CÓMO SE USA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0750" y="3612766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D2B99A"/>
                </a:solidFill>
                <a:latin typeface="Poppins"/>
                <a:ea typeface="Poppins"/>
                <a:cs typeface="Poppins"/>
                <a:sym typeface="Poppins"/>
              </a:rPr>
              <a:t>Pasos 3 y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319521"/>
            <a:ext cx="5905500" cy="194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 eso la API responde en https:// y la IP del servidor deja de publicarse.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2836216" y="3112049"/>
            <a:ext cx="0" cy="1789062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2836216" y="0"/>
            <a:ext cx="0" cy="123825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294294" y="1847850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 · RUTA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4294" y="5620872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 · REGLAS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94294" y="2465124"/>
            <a:ext cx="4300000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Published application: ingresos.example.com → http://api:8000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94294" y="6231506"/>
            <a:ext cx="4300000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WAF administrado, límite de peticiones a /graphql y caché solo para lo público.</a:t>
            </a:r>
          </a:p>
        </p:txBody>
      </p:sp>
      <p:pic>
        <p:nvPicPr>
          <p:cNvPr id="15" name="Picture 14" descr="fi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0" y="1905000"/>
            <a:ext cx="540000" cy="540000"/>
          </a:xfrm>
          <a:prstGeom prst="rect">
            <a:avLst/>
          </a:prstGeom>
        </p:spPr>
      </p:pic>
      <p:pic>
        <p:nvPicPr>
          <p:cNvPr id="16" name="Picture 15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5456" y="5567861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1952625"/>
            <a:ext cx="100000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 LO QUE YA VIMOS</a:t>
            </a:r>
          </a:p>
        </p:txBody>
      </p:sp>
      <p:sp>
        <p:nvSpPr>
          <p:cNvPr name="AutoShape 4" id="4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5" name="Rounded Rectangle 4"/>
          <p:cNvSpPr/>
          <p:nvPr/>
        </p:nvSpPr>
        <p:spPr>
          <a:xfrm>
            <a:off x="2571750" y="3550000"/>
            <a:ext cx="6372250" cy="2750000"/>
          </a:xfrm>
          <a:prstGeom prst="roundRect">
            <a:avLst>
              <a:gd name="adj" fmla="val 6000"/>
            </a:avLst>
          </a:prstGeom>
          <a:solidFill>
            <a:srgbClr val="0E1A2E">
              <a:alpha val="8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rver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750" y="3970000"/>
            <a:ext cx="680000" cy="6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71750" y="3930000"/>
            <a:ext cx="462225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1750" y="4550000"/>
            <a:ext cx="4622250" cy="16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Hoy el compose publica puertos. Con el túnel, cloudflared es un contenedor más y la API no expone ninguno.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4000" y="3550000"/>
            <a:ext cx="6372250" cy="2750000"/>
          </a:xfrm>
          <a:prstGeom prst="roundRect">
            <a:avLst>
              <a:gd name="adj" fmla="val 6000"/>
            </a:avLst>
          </a:prstGeom>
          <a:solidFill>
            <a:srgbClr val="0E1A2E">
              <a:alpha val="8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o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000" y="3970000"/>
            <a:ext cx="680000" cy="6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44000" y="3930000"/>
            <a:ext cx="462225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 y permisos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000" y="4550000"/>
            <a:ext cx="4622250" cy="16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los reemplaza. Cloudflare cuida el camino; leer_actor y exigir_permiso siguen decidiendo quién puede qué.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1750" y="6700000"/>
            <a:ext cx="6372250" cy="2750000"/>
          </a:xfrm>
          <a:prstGeom prst="roundRect">
            <a:avLst>
              <a:gd name="adj" fmla="val 6000"/>
            </a:avLst>
          </a:prstGeom>
          <a:solidFill>
            <a:srgbClr val="0E1A2E">
              <a:alpha val="8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ile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750" y="7120000"/>
            <a:ext cx="680000" cy="68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71750" y="7080000"/>
            <a:ext cx="462225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1750" y="7700000"/>
            <a:ext cx="4622250" cy="16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Todo va por POST /graphql y Cloudflare no guarda en caché un POST. La caché ayuda con GET y archivos.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4000" y="6700000"/>
            <a:ext cx="6372250" cy="2750000"/>
          </a:xfrm>
          <a:prstGeom prst="roundRect">
            <a:avLst>
              <a:gd name="adj" fmla="val 6000"/>
            </a:avLst>
          </a:prstGeom>
          <a:solidFill>
            <a:srgbClr val="0E1A2E">
              <a:alpha val="8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db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000" y="7120000"/>
            <a:ext cx="680000" cy="68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44000" y="7080000"/>
            <a:ext cx="462225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000" y="7700000"/>
            <a:ext cx="4622250" cy="16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20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Nunca pasa por Cloudflare. Se queda en la red interna de Docker, sin salida a internet.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6" id="6"/>
          <p:cNvSpPr/>
          <p:nvPr/>
        </p:nvSpPr>
        <p:spPr>
          <a:xfrm flipH="false" flipV="false" rot="0">
            <a:off x="-977686" y="-206024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EJEMPLO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4543452"/>
            <a:ext cx="1968818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API de ingresos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5300000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Agregamos cloudflared al docker-compose. La API deja de publicar el puerto 8000 y solo el túnel la alcanza.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000" y="1905000"/>
            <a:ext cx="7900000" cy="6480000"/>
          </a:xfrm>
          <a:prstGeom prst="roundRect">
            <a:avLst>
              <a:gd name="adj" fmla="val 6000"/>
            </a:avLst>
          </a:prstGeom>
          <a:solidFill>
            <a:srgbClr val="0A1120">
              <a:alpha val="9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50000" y="2325000"/>
            <a:ext cx="7200000" cy="57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db: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image: mysql:8.4      </a:t>
            </a:r>
            <a:r>
              <a:rPr sz="1800" b="0">
                <a:solidFill>
                  <a:srgbClr val="D2B99A"/>
                </a:solidFill>
                <a:latin typeface="Courier New"/>
                <a:ea typeface="Courier New"/>
                <a:cs typeface="Courier New"/>
                <a:sym typeface="Courier New"/>
              </a:rPr>
              <a:t># igual que hoy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api: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build: .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command: uvicorn app.main:app --host 0.0.0.0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D2B99A"/>
                </a:solidFill>
                <a:latin typeface="Courier New"/>
                <a:ea typeface="Courier New"/>
                <a:cs typeface="Courier New"/>
                <a:sym typeface="Courier New"/>
              </a:rPr>
              <a:t>    # sin "ports": nadie entra directo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tunnel: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image: cloudflare/cloudflared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command: tunnel --no-autoupdate run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environment: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TUNNEL_TOKEN: ${TUNNEL_TOKEN}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D2B99A"/>
                </a:solidFill>
                <a:latin typeface="Courier New"/>
                <a:ea typeface="Courier New"/>
                <a:cs typeface="Courier New"/>
                <a:sym typeface="Courier New"/>
              </a:rPr>
              <a:t># Ruta en el panel de Cloudflare: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sz="1800" b="0">
                <a:solidFill>
                  <a:srgbClr val="D2B99A"/>
                </a:solidFill>
                <a:latin typeface="Courier New"/>
                <a:ea typeface="Courier New"/>
                <a:cs typeface="Courier New"/>
                <a:sym typeface="Courier New"/>
              </a:rPr>
              <a:t># ingresos.example.com → http://api:8000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-206024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6892" y="1905000"/>
            <a:ext cx="3979358" cy="3190719"/>
          </a:xfrm>
          <a:custGeom>
            <a:avLst/>
            <a:gdLst/>
            <a:ahLst/>
            <a:cxnLst/>
            <a:rect r="r" b="b" t="t" l="l"/>
            <a:pathLst>
              <a:path h="3190719" w="3979358">
                <a:moveTo>
                  <a:pt x="0" y="0"/>
                </a:moveTo>
                <a:lnTo>
                  <a:pt x="3979358" y="0"/>
                </a:lnTo>
                <a:lnTo>
                  <a:pt x="3979358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477250" y="5191281"/>
            <a:ext cx="3979358" cy="3190719"/>
          </a:xfrm>
          <a:custGeom>
            <a:avLst/>
            <a:gdLst/>
            <a:ahLst/>
            <a:cxnLst/>
            <a:rect r="r" b="b" t="t" l="l"/>
            <a:pathLst>
              <a:path h="3190719" w="3979358">
                <a:moveTo>
                  <a:pt x="0" y="0"/>
                </a:moveTo>
                <a:lnTo>
                  <a:pt x="3979358" y="0"/>
                </a:lnTo>
                <a:lnTo>
                  <a:pt x="3979358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477250" y="1905000"/>
            <a:ext cx="3164914" cy="3190719"/>
          </a:xfrm>
          <a:custGeom>
            <a:avLst/>
            <a:gdLst/>
            <a:ahLst/>
            <a:cxnLst/>
            <a:rect r="r" b="b" t="t" l="l"/>
            <a:pathLst>
              <a:path h="3190719" w="3164914">
                <a:moveTo>
                  <a:pt x="0" y="0"/>
                </a:moveTo>
                <a:lnTo>
                  <a:pt x="3164914" y="0"/>
                </a:lnTo>
                <a:lnTo>
                  <a:pt x="3164914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551336" y="5191281"/>
            <a:ext cx="3164914" cy="3190719"/>
          </a:xfrm>
          <a:custGeom>
            <a:avLst/>
            <a:gdLst/>
            <a:ahLst/>
            <a:cxnLst/>
            <a:rect r="r" b="b" t="t" l="l"/>
            <a:pathLst>
              <a:path h="3190719" w="3164914">
                <a:moveTo>
                  <a:pt x="0" y="0"/>
                </a:moveTo>
                <a:lnTo>
                  <a:pt x="3164914" y="0"/>
                </a:lnTo>
                <a:lnTo>
                  <a:pt x="3164914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solidFill>
            <a:srgbClr val="0E1A2E"/>
          </a:solidFill>
          <a:ln w="15875">
            <a:solidFill>
              <a:srgbClr val="2A3F66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EJEMPLO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4543452"/>
            <a:ext cx="1968818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6010910"/>
            <a:ext cx="53000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camino de una petición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5300000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consulta accounts, con su token, pasa por cuatro paradas antes de leer la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7250" y="2255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pic>
        <p:nvPicPr>
          <p:cNvPr id="13" name="Picture 12" descr="lapto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2164" y="2255000"/>
            <a:ext cx="560000" cy="5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7250" y="3305000"/>
            <a:ext cx="2464914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GraphiQL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7250" y="3855000"/>
            <a:ext cx="2464914" cy="1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POST /graphql con Bearer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86892" y="2255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pic>
        <p:nvPicPr>
          <p:cNvPr id="17" name="Picture 16" descr="clou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06250" y="2255000"/>
            <a:ext cx="560000" cy="5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86892" y="3305000"/>
            <a:ext cx="3279358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Borde de Cloudflare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86892" y="3855000"/>
            <a:ext cx="3279358" cy="1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HTTPS, WAF y límite de peticiones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7250" y="5541281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pic>
        <p:nvPicPr>
          <p:cNvPr id="21" name="Picture 20" descr="serv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6608" y="5541281"/>
            <a:ext cx="560000" cy="5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27250" y="6591281"/>
            <a:ext cx="3279358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cloudflared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7250" y="7141281"/>
            <a:ext cx="3279358" cy="1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Túnel cifrado hasta el servidor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01336" y="5541281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pic>
        <p:nvPicPr>
          <p:cNvPr id="25" name="Picture 24" descr="db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06250" y="5541281"/>
            <a:ext cx="560000" cy="5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01336" y="6591281"/>
            <a:ext cx="2464914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FastAPI + 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01336" y="7141281"/>
            <a:ext cx="2464914" cy="1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0"/>
              </a:lnSpc>
              <a:spcAft>
                <a:spcPts val="0"/>
              </a:spcAft>
            </a:pPr>
            <a:r>
              <a:rPr sz="1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leer_actor valida el JWT y responde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64302" y="-3180331"/>
            <a:ext cx="22216605" cy="9419840"/>
          </a:xfrm>
          <a:custGeom>
            <a:avLst/>
            <a:gdLst/>
            <a:ahLst/>
            <a:cxnLst/>
            <a:rect r="r" b="b" t="t" l="l"/>
            <a:pathLst>
              <a:path h="9419840" w="22216605">
                <a:moveTo>
                  <a:pt x="22216604" y="0"/>
                </a:moveTo>
                <a:lnTo>
                  <a:pt x="0" y="0"/>
                </a:lnTo>
                <a:lnTo>
                  <a:pt x="0" y="9419841"/>
                </a:lnTo>
                <a:lnTo>
                  <a:pt x="22216604" y="9419841"/>
                </a:lnTo>
                <a:lnTo>
                  <a:pt x="22216604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810750" y="4119425"/>
            <a:ext cx="444584" cy="144068"/>
            <a:chOff x="0" y="0"/>
            <a:chExt cx="117092" cy="3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92" cy="37944"/>
            </a:xfrm>
            <a:custGeom>
              <a:avLst/>
              <a:gdLst/>
              <a:ahLst/>
              <a:cxnLst/>
              <a:rect r="r" b="b" t="t" l="l"/>
              <a:pathLst>
                <a:path h="37944" w="117092">
                  <a:moveTo>
                    <a:pt x="18972" y="0"/>
                  </a:moveTo>
                  <a:lnTo>
                    <a:pt x="98120" y="0"/>
                  </a:lnTo>
                  <a:cubicBezTo>
                    <a:pt x="108598" y="0"/>
                    <a:pt x="117092" y="8494"/>
                    <a:pt x="117092" y="18972"/>
                  </a:cubicBezTo>
                  <a:lnTo>
                    <a:pt x="117092" y="18972"/>
                  </a:lnTo>
                  <a:cubicBezTo>
                    <a:pt x="117092" y="29450"/>
                    <a:pt x="108598" y="37944"/>
                    <a:pt x="98120" y="37944"/>
                  </a:cubicBezTo>
                  <a:lnTo>
                    <a:pt x="18972" y="37944"/>
                  </a:lnTo>
                  <a:cubicBezTo>
                    <a:pt x="8494" y="37944"/>
                    <a:pt x="0" y="29450"/>
                    <a:pt x="0" y="18972"/>
                  </a:cubicBezTo>
                  <a:lnTo>
                    <a:pt x="0" y="18972"/>
                  </a:lnTo>
                  <a:cubicBezTo>
                    <a:pt x="0" y="8494"/>
                    <a:pt x="8494" y="0"/>
                    <a:pt x="18972" y="0"/>
                  </a:cubicBezTo>
                  <a:close/>
                </a:path>
              </a:pathLst>
            </a:custGeom>
            <a:solidFill>
              <a:srgbClr val="1134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17092" cy="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10750" y="6707543"/>
            <a:ext cx="444584" cy="144068"/>
            <a:chOff x="0" y="0"/>
            <a:chExt cx="117092" cy="37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92" cy="37944"/>
            </a:xfrm>
            <a:custGeom>
              <a:avLst/>
              <a:gdLst/>
              <a:ahLst/>
              <a:cxnLst/>
              <a:rect r="r" b="b" t="t" l="l"/>
              <a:pathLst>
                <a:path h="37944" w="117092">
                  <a:moveTo>
                    <a:pt x="18972" y="0"/>
                  </a:moveTo>
                  <a:lnTo>
                    <a:pt x="98120" y="0"/>
                  </a:lnTo>
                  <a:cubicBezTo>
                    <a:pt x="108598" y="0"/>
                    <a:pt x="117092" y="8494"/>
                    <a:pt x="117092" y="18972"/>
                  </a:cubicBezTo>
                  <a:lnTo>
                    <a:pt x="117092" y="18972"/>
                  </a:lnTo>
                  <a:cubicBezTo>
                    <a:pt x="117092" y="29450"/>
                    <a:pt x="108598" y="37944"/>
                    <a:pt x="98120" y="37944"/>
                  </a:cubicBezTo>
                  <a:lnTo>
                    <a:pt x="18972" y="37944"/>
                  </a:lnTo>
                  <a:cubicBezTo>
                    <a:pt x="8494" y="37944"/>
                    <a:pt x="0" y="29450"/>
                    <a:pt x="0" y="18972"/>
                  </a:cubicBezTo>
                  <a:lnTo>
                    <a:pt x="0" y="18972"/>
                  </a:lnTo>
                  <a:cubicBezTo>
                    <a:pt x="0" y="8494"/>
                    <a:pt x="8494" y="0"/>
                    <a:pt x="18972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17092" cy="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71750" y="1952625"/>
            <a:ext cx="100000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GANANCIAS Y LÍMITES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44609" y="3975241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gana el equipo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4609" y="656336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cuesta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4609" y="4681996"/>
            <a:ext cx="5071641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 sin manejar certificados, la IP del servidor oculta y menos tráfico basura llegando a FastAPI.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44609" y="7270115"/>
            <a:ext cx="5071641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Hace falta un dominio propio, Cloudflare ve el tráfico descifrado y una regla de caché mal hecha puede mostrar datos de otro usuario.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0" y="3700000"/>
            <a:ext cx="6500000" cy="2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1750" y="6250000"/>
            <a:ext cx="6300000" cy="1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plan gratuito ya incluye HTTPS, protección DDoS y Cloudflare Tunnel.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1952625"/>
            <a:ext cx="100000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CUÁNDO NO CONVIENE</a:t>
            </a:r>
          </a:p>
        </p:txBody>
      </p:sp>
      <p:sp>
        <p:nvSpPr>
          <p:cNvPr name="AutoShape 4" id="4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5" name="TextBox 4"/>
          <p:cNvSpPr txBox="1"/>
          <p:nvPr/>
        </p:nvSpPr>
        <p:spPr>
          <a:xfrm>
            <a:off x="2571750" y="35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1750" y="359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desarrollo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1750" y="425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Para probar en clase basta localhost; para enseñarlo, un túnel rápido temporal.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1750" y="5150000"/>
            <a:ext cx="13144500" cy="0"/>
          </a:xfrm>
          <a:prstGeom prst="line">
            <a:avLst/>
          </a:prstGeom>
          <a:ln w="12700">
            <a:solidFill>
              <a:srgbClr val="3A4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71750" y="54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1750" y="549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Datos que no deben pasar por terceros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1750" y="615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Cloudflare termina el HTTPS: puede ver las peticiones descifradas.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1750" y="7050000"/>
            <a:ext cx="13144500" cy="0"/>
          </a:xfrm>
          <a:prstGeom prst="line">
            <a:avLst/>
          </a:prstGeom>
          <a:ln w="12700">
            <a:solidFill>
              <a:srgbClr val="3A4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71750" y="7350000"/>
            <a:ext cx="1300000" cy="7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D2B99A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1750" y="739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 internos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1750" y="8050000"/>
            <a:ext cx="116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Dos backends en la misma red no necesitan un proxy público en medio.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0990" y="4100000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</a:t>
            </a:r>
          </a:p>
        </p:txBody>
      </p:sp>
      <p:sp>
        <p:nvSpPr>
          <p:cNvPr name="AutoShape 4" id="4"/>
          <p:cNvSpPr/>
          <p:nvPr/>
        </p:nvSpPr>
        <p:spPr>
          <a:xfrm>
            <a:off x="8860051" y="5014000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5" name="TextBox 4"/>
          <p:cNvSpPr txBox="1"/>
          <p:nvPr/>
        </p:nvSpPr>
        <p:spPr>
          <a:xfrm>
            <a:off x="2571750" y="5450000"/>
            <a:ext cx="131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Túnel rápido a nuestra API, sin cuenta ni dominio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4000" y="6350000"/>
            <a:ext cx="9000000" cy="900000"/>
          </a:xfrm>
          <a:prstGeom prst="roundRect">
            <a:avLst>
              <a:gd name="adj" fmla="val 6000"/>
            </a:avLst>
          </a:prstGeom>
          <a:solidFill>
            <a:srgbClr val="0A1120">
              <a:alpha val="90000"/>
            </a:srgbClr>
          </a:solidFill>
          <a:ln w="15875">
            <a:solidFill>
              <a:srgbClr val="2A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44000" y="6350000"/>
            <a:ext cx="9000000" cy="9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D2B99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cloudflared tunnel --url http://localhost:8000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1750" y="1905000"/>
            <a:ext cx="13144500" cy="5573268"/>
          </a:xfrm>
          <a:custGeom>
            <a:avLst/>
            <a:gdLst/>
            <a:ahLst/>
            <a:cxnLst/>
            <a:rect r="r" b="b" t="t" l="l"/>
            <a:pathLst>
              <a:path h="5573268" w="13144500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2607999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FUENTES</a:t>
            </a:r>
          </a:p>
        </p:txBody>
      </p:sp>
      <p:sp>
        <p:nvSpPr>
          <p:cNvPr name="AutoShape 4" id="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571750" y="1905000"/>
            <a:ext cx="274374" cy="274374"/>
          </a:xfrm>
          <a:custGeom>
            <a:avLst/>
            <a:gdLst/>
            <a:ahLst/>
            <a:cxnLst/>
            <a:rect r="r" b="b" t="t" l="l"/>
            <a:pathLst>
              <a:path h="274374" w="274374">
                <a:moveTo>
                  <a:pt x="0" y="0"/>
                </a:moveTo>
                <a:lnTo>
                  <a:pt x="274374" y="0"/>
                </a:lnTo>
                <a:lnTo>
                  <a:pt x="274374" y="274374"/>
                </a:lnTo>
                <a:lnTo>
                  <a:pt x="0" y="27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624" y="1914525"/>
            <a:ext cx="3000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1750" y="7550000"/>
            <a:ext cx="40481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Cloudflare Tunnel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9916" y="7550000"/>
            <a:ext cx="40481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Default cache behavior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8082" y="7550000"/>
            <a:ext cx="40481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DNS · Proxy status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8150000"/>
            <a:ext cx="4048166" cy="39179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https://developers.cloudflare.com/tunnel/get-started/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9916" y="8150000"/>
            <a:ext cx="4048166" cy="39179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https://developers.cloudflare.com/cache/concepts/default-cache-behavior/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68082" y="8150000"/>
            <a:ext cx="4048166" cy="39179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https://developers.cloudflare.com/dns/proxy-status/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0990" y="4700878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¿PREGUNTAS?</a:t>
            </a:r>
          </a:p>
        </p:txBody>
      </p:sp>
      <p:sp>
        <p:nvSpPr>
          <p:cNvPr name="AutoShape 4" id="4"/>
          <p:cNvSpPr/>
          <p:nvPr/>
        </p:nvSpPr>
        <p:spPr>
          <a:xfrm>
            <a:off x="8860051" y="5614697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5" name="TextBox 4"/>
          <p:cNvSpPr txBox="1"/>
          <p:nvPr/>
        </p:nvSpPr>
        <p:spPr>
          <a:xfrm>
            <a:off x="2571750" y="6000000"/>
            <a:ext cx="13144500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Gracias · Equipo 4 · Cloudflare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DAHYrhJYVSQ</dc:identifier>
  <dcterms:modified xsi:type="dcterms:W3CDTF">2011-08-01T06:04:30Z</dcterms:modified>
  <cp:revision>1</cp:revision>
  <dc:title>Equipo 4 · Cloudflare</dc:title>
  <dc:creator>Equipo 4</dc:creator>
</cp:coreProperties>
</file>